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50" d="100"/>
          <a:sy n="50" d="100"/>
        </p:scale>
        <p:origin x="720"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72E34-866A-44B0-BB39-88BA96367730}"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63E4F-8719-4094-946D-2F2C5F2CCF74}" type="slidenum">
              <a:rPr lang="en-US" smtClean="0"/>
              <a:t>‹#›</a:t>
            </a:fld>
            <a:endParaRPr lang="en-US"/>
          </a:p>
        </p:txBody>
      </p:sp>
    </p:spTree>
    <p:extLst>
      <p:ext uri="{BB962C8B-B14F-4D97-AF65-F5344CB8AC3E}">
        <p14:creationId xmlns:p14="http://schemas.microsoft.com/office/powerpoint/2010/main" val="2485601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63E4F-8719-4094-946D-2F2C5F2CCF74}" type="slidenum">
              <a:rPr lang="en-US" smtClean="0"/>
              <a:t>1</a:t>
            </a:fld>
            <a:endParaRPr lang="en-US"/>
          </a:p>
        </p:txBody>
      </p:sp>
    </p:spTree>
    <p:extLst>
      <p:ext uri="{BB962C8B-B14F-4D97-AF65-F5344CB8AC3E}">
        <p14:creationId xmlns:p14="http://schemas.microsoft.com/office/powerpoint/2010/main" val="3588108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1752435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4174615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3382466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F99B41D-7EFA-403D-B08B-50043CF43061}"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2811398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F99B41D-7EFA-403D-B08B-50043CF43061}"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2153470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374037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16072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445974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99B41D-7EFA-403D-B08B-50043CF43061}"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940983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99B41D-7EFA-403D-B08B-50043CF43061}"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259072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2542527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899783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2891663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3550155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3451351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3623342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99B41D-7EFA-403D-B08B-50043CF43061}"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C1130-2940-4039-BD69-CB264C90D113}" type="slidenum">
              <a:rPr lang="en-US" smtClean="0"/>
              <a:t>‹#›</a:t>
            </a:fld>
            <a:endParaRPr lang="en-US"/>
          </a:p>
        </p:txBody>
      </p:sp>
    </p:spTree>
    <p:extLst>
      <p:ext uri="{BB962C8B-B14F-4D97-AF65-F5344CB8AC3E}">
        <p14:creationId xmlns:p14="http://schemas.microsoft.com/office/powerpoint/2010/main" val="3664617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F99B41D-7EFA-403D-B08B-50043CF43061}" type="datetimeFigureOut">
              <a:rPr lang="en-US" smtClean="0"/>
              <a:t>9/12/2026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69C1130-2940-4039-BD69-CB264C90D113}" type="slidenum">
              <a:rPr lang="en-US" smtClean="0"/>
              <a:t>‹#›</a:t>
            </a:fld>
            <a:endParaRPr lang="en-US"/>
          </a:p>
        </p:txBody>
      </p:sp>
    </p:spTree>
    <p:extLst>
      <p:ext uri="{BB962C8B-B14F-4D97-AF65-F5344CB8AC3E}">
        <p14:creationId xmlns:p14="http://schemas.microsoft.com/office/powerpoint/2010/main" val="18107276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23478" y="1398019"/>
            <a:ext cx="11116376" cy="923330"/>
          </a:xfrm>
          <a:prstGeom prst="rect">
            <a:avLst/>
          </a:prstGeom>
          <a:solidFill>
            <a:srgbClr val="FF0000"/>
          </a:solidFill>
        </p:spPr>
        <p:txBody>
          <a:bodyPr wrap="square" lIns="91440" tIns="45720" rIns="91440" bIns="45720">
            <a:spAutoFit/>
          </a:bodyPr>
          <a:lstStyle/>
          <a:p>
            <a:r>
              <a:rPr lang="en-US" sz="5400" dirty="0">
                <a:latin typeface="Times New Roman" panose="02020603050405020304" pitchFamily="18" charset="0"/>
                <a:cs typeface="Times New Roman" panose="02020603050405020304" pitchFamily="18" charset="0"/>
              </a:rPr>
              <a:t>From Program to Software Engineering</a:t>
            </a:r>
          </a:p>
        </p:txBody>
      </p:sp>
      <p:sp>
        <p:nvSpPr>
          <p:cNvPr id="8" name="Rectangle 7"/>
          <p:cNvSpPr/>
          <p:nvPr/>
        </p:nvSpPr>
        <p:spPr>
          <a:xfrm>
            <a:off x="323478" y="3366854"/>
            <a:ext cx="11116376" cy="1015663"/>
          </a:xfrm>
          <a:prstGeom prst="rect">
            <a:avLst/>
          </a:prstGeom>
        </p:spPr>
        <p:txBody>
          <a:bodyPr wrap="square">
            <a:spAutoFit/>
          </a:bodyPr>
          <a:lstStyle/>
          <a:p>
            <a:pPr algn="just"/>
            <a:r>
              <a:rPr lang="en-US" sz="2000" b="0" i="0" dirty="0" smtClean="0">
                <a:effectLst/>
                <a:latin typeface="Times New Roman" panose="02020603050405020304" pitchFamily="18" charset="0"/>
                <a:cs typeface="Times New Roman" panose="02020603050405020304" pitchFamily="18" charset="0"/>
              </a:rPr>
              <a:t>This presentation explains the basic ideas of programs, software, programming, programming languages, and software engineering. It shows how these concepts are connected and how they are used to create useful computer systems</a:t>
            </a:r>
            <a:r>
              <a:rPr lang="en-US" b="0" i="0" dirty="0" smtClean="0">
                <a:effectLst/>
              </a:rPr>
              <a:t>.</a:t>
            </a:r>
            <a:endParaRPr lang="en-US" dirty="0"/>
          </a:p>
        </p:txBody>
      </p:sp>
      <p:sp>
        <p:nvSpPr>
          <p:cNvPr id="9" name="Rectangle 8"/>
          <p:cNvSpPr/>
          <p:nvPr/>
        </p:nvSpPr>
        <p:spPr>
          <a:xfrm>
            <a:off x="584805" y="5847834"/>
            <a:ext cx="5109669" cy="461665"/>
          </a:xfrm>
          <a:prstGeom prst="rect">
            <a:avLst/>
          </a:prstGeom>
        </p:spPr>
        <p:txBody>
          <a:bodyPr wrap="none">
            <a:spAutoFit/>
          </a:bodyPr>
          <a:lstStyle/>
          <a:p>
            <a:r>
              <a:rPr lang="en-US" sz="2400" b="1" i="0" dirty="0" smtClean="0">
                <a:effectLst/>
                <a:latin typeface="Times New Roman" panose="02020603050405020304" pitchFamily="18" charset="0"/>
                <a:cs typeface="Times New Roman" panose="02020603050405020304" pitchFamily="18" charset="0"/>
              </a:rPr>
              <a:t>PRESENTED BY: BIBASH KUMAL</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1641786"/>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850900"/>
            <a:ext cx="11226800" cy="5232202"/>
          </a:xfrm>
          <a:prstGeom prst="rect">
            <a:avLst/>
          </a:prstGeom>
        </p:spPr>
        <p:txBody>
          <a:bodyPr wrap="square">
            <a:spAutoFit/>
          </a:bodyPr>
          <a:lstStyle/>
          <a:p>
            <a:pPr>
              <a:buFont typeface="Arial" panose="020B0604020202020204" pitchFamily="34" charset="0"/>
              <a:buChar char="•"/>
            </a:pPr>
            <a:r>
              <a:rPr lang="en-US" sz="5400" b="0" i="0" dirty="0" smtClean="0">
                <a:solidFill>
                  <a:srgbClr val="E8E8E8"/>
                </a:solidFill>
                <a:effectLst/>
                <a:latin typeface="Times New Roman" panose="02020603050405020304" pitchFamily="18" charset="0"/>
                <a:cs typeface="Times New Roman" panose="02020603050405020304" pitchFamily="18" charset="0"/>
              </a:rPr>
              <a:t>Program and Software</a:t>
            </a:r>
            <a:endParaRPr lang="en-US" sz="5400" dirty="0" smtClean="0">
              <a:effectLst/>
              <a:latin typeface="Times New Roman" panose="02020603050405020304" pitchFamily="18" charset="0"/>
              <a:cs typeface="Times New Roman" panose="02020603050405020304" pitchFamily="18" charset="0"/>
            </a:endParaRPr>
          </a:p>
          <a:p>
            <a:pPr algn="just"/>
            <a:r>
              <a:rPr lang="en-US" sz="4000" b="1" i="0" dirty="0" smtClean="0">
                <a:solidFill>
                  <a:srgbClr val="FF3131"/>
                </a:solidFill>
                <a:effectLst/>
                <a:latin typeface="Times New Roman" panose="02020603050405020304" pitchFamily="18" charset="0"/>
                <a:cs typeface="Times New Roman" panose="02020603050405020304" pitchFamily="18" charset="0"/>
              </a:rPr>
              <a:t>Program</a:t>
            </a:r>
            <a:endParaRPr lang="en-US" sz="4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program is a set of instructions created to make a computer complete a particular task.</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calculator program is designed to perform operations such as addition, subtraction, multiplication, and division.</a:t>
            </a:r>
          </a:p>
          <a:p>
            <a:pPr algn="just"/>
            <a:endParaRPr lang="en-US" sz="2000" dirty="0" smtClean="0">
              <a:effectLst/>
            </a:endParaRPr>
          </a:p>
          <a:p>
            <a:pPr algn="just"/>
            <a:r>
              <a:rPr lang="en-US" sz="4000" b="1" i="0" dirty="0" smtClean="0">
                <a:solidFill>
                  <a:srgbClr val="FF3131"/>
                </a:solidFill>
                <a:effectLst/>
                <a:latin typeface="Times New Roman" panose="02020603050405020304" pitchFamily="18" charset="0"/>
                <a:cs typeface="Times New Roman" panose="02020603050405020304" pitchFamily="18" charset="0"/>
              </a:rPr>
              <a:t>Software</a:t>
            </a:r>
            <a:endParaRPr lang="en-US" sz="4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Software is a collection of programs and other related components that allow users to perform different tasks on a computer.</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Examples:</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Microsoft Word, Google Chrome, Windows, and VLC Media Player.</a:t>
            </a:r>
            <a:endParaRPr lang="en-US" sz="2000" dirty="0" smtClean="0">
              <a:effectLst/>
              <a:latin typeface="Times New Roman" panose="02020603050405020304" pitchFamily="18" charset="0"/>
              <a:cs typeface="Times New Roman" panose="02020603050405020304" pitchFamily="18" charset="0"/>
            </a:endParaRPr>
          </a:p>
          <a:p>
            <a:pPr algn="just"/>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18528"/>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23900" y="833041"/>
            <a:ext cx="8318500" cy="3477875"/>
          </a:xfrm>
          <a:prstGeom prst="rect">
            <a:avLst/>
          </a:prstGeom>
        </p:spPr>
        <p:txBody>
          <a:bodyPr wrap="square">
            <a:spAutoFit/>
          </a:bodyPr>
          <a:lstStyle/>
          <a:p>
            <a:pPr>
              <a:buFont typeface="Arial" panose="020B0604020202020204" pitchFamily="34" charset="0"/>
              <a:buChar char="•"/>
            </a:pPr>
            <a:r>
              <a:rPr lang="en-US" sz="4000" b="0" i="0" dirty="0" smtClean="0">
                <a:solidFill>
                  <a:srgbClr val="E8E8E8"/>
                </a:solidFill>
                <a:effectLst/>
                <a:latin typeface="Times New Roman" panose="02020603050405020304" pitchFamily="18" charset="0"/>
                <a:cs typeface="Times New Roman" panose="02020603050405020304" pitchFamily="18" charset="0"/>
              </a:rPr>
              <a:t>Program vs. Software</a:t>
            </a:r>
            <a:endParaRPr lang="en-US" sz="4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program is mainly a set of instructions created for a specific purpose.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Software is a broader concept. It may contain many programs, files, data, libraries, and other supporting components.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FF3131"/>
                </a:solidFill>
                <a:effectLst/>
                <a:latin typeface="Times New Roman" panose="02020603050405020304" pitchFamily="18" charset="0"/>
                <a:cs typeface="Times New Roman" panose="02020603050405020304" pitchFamily="18" charset="0"/>
              </a:rPr>
              <a:t>Example: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calculator is an example of a program because it mainly performs calculations. Microsoft Office is an example of software because it contains several applications such as Word, Excel, and PowerPoint.</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Therefore, a program can be a part of software.</a:t>
            </a:r>
            <a:endParaRPr lang="en-US" sz="2000" dirty="0" smtClean="0">
              <a:effectLst/>
              <a:latin typeface="Times New Roman" panose="02020603050405020304" pitchFamily="18" charset="0"/>
              <a:cs typeface="Times New Roman" panose="02020603050405020304" pitchFamily="18" charset="0"/>
            </a:endParaRPr>
          </a:p>
          <a:p>
            <a:pPr algn="just"/>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498542"/>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79543"/>
            <a:ext cx="12649200" cy="4401205"/>
          </a:xfrm>
          <a:prstGeom prst="rect">
            <a:avLst/>
          </a:prstGeom>
        </p:spPr>
        <p:txBody>
          <a:bodyPr wrap="square">
            <a:spAutoFit/>
          </a:bodyPr>
          <a:lstStyle/>
          <a:p>
            <a:pPr algn="just">
              <a:buFont typeface="Arial" panose="020B0604020202020204" pitchFamily="34" charset="0"/>
              <a:buChar char="•"/>
            </a:pPr>
            <a:r>
              <a:rPr lang="en-US" sz="4000" b="1" i="0" dirty="0" smtClean="0">
                <a:solidFill>
                  <a:srgbClr val="E8E8E8"/>
                </a:solidFill>
                <a:effectLst/>
                <a:latin typeface="Times New Roman" panose="02020603050405020304" pitchFamily="18" charset="0"/>
                <a:cs typeface="Times New Roman" panose="02020603050405020304" pitchFamily="18" charset="0"/>
              </a:rPr>
              <a:t>Hardware vs. Software and Types of Software</a:t>
            </a:r>
            <a:endParaRPr lang="en-US" sz="4000" b="1"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Hardware refers to the physical parts of a computer that we can see and touch.</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Examples: Keyboard, mouse, monitor, CPU, RAM, and hard disk.</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Software refers to the digital instructions and programs that tell the hardware what to do.</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Examples: Windows, Chrome, Microsoft Word, and Photoshop.</a:t>
            </a:r>
          </a:p>
          <a:p>
            <a:pPr algn="just"/>
            <a:endParaRPr lang="en-US" sz="2000" dirty="0" smtClean="0">
              <a:effectLst/>
              <a:latin typeface="Times New Roman" panose="02020603050405020304" pitchFamily="18" charset="0"/>
              <a:cs typeface="Times New Roman" panose="02020603050405020304" pitchFamily="18" charset="0"/>
            </a:endParaRPr>
          </a:p>
          <a:p>
            <a:pPr algn="just"/>
            <a:r>
              <a:rPr lang="en-US" sz="4000" b="0" i="0" dirty="0" smtClean="0">
                <a:solidFill>
                  <a:srgbClr val="E8E8E8"/>
                </a:solidFill>
                <a:effectLst/>
                <a:latin typeface="Times New Roman" panose="02020603050405020304" pitchFamily="18" charset="0"/>
                <a:cs typeface="Times New Roman" panose="02020603050405020304" pitchFamily="18" charset="0"/>
              </a:rPr>
              <a:t>Main Types of Software</a:t>
            </a:r>
            <a:endParaRPr lang="en-US" sz="4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There are mainly three common types: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System Software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Application Software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Programming Software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Each type performs a different role in a computer system.</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8210408"/>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028343"/>
            <a:ext cx="10871200" cy="4739759"/>
          </a:xfrm>
          <a:prstGeom prst="rect">
            <a:avLst/>
          </a:prstGeom>
        </p:spPr>
        <p:txBody>
          <a:bodyPr wrap="square">
            <a:spAutoFit/>
          </a:bodyPr>
          <a:lstStyle/>
          <a:p>
            <a:pPr algn="just">
              <a:buFont typeface="Arial" panose="020B0604020202020204" pitchFamily="34" charset="0"/>
              <a:buChar char="•"/>
            </a:pPr>
            <a:r>
              <a:rPr lang="en-US" sz="4000" b="0" i="0" dirty="0" smtClean="0">
                <a:solidFill>
                  <a:srgbClr val="E8E8E8"/>
                </a:solidFill>
                <a:effectLst/>
                <a:latin typeface="Times New Roman" panose="02020603050405020304" pitchFamily="18" charset="0"/>
                <a:cs typeface="Times New Roman" panose="02020603050405020304" pitchFamily="18" charset="0"/>
              </a:rPr>
              <a:t>System Software and Application Software</a:t>
            </a:r>
            <a:endParaRPr lang="en-US" sz="4000"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System Software</a:t>
            </a:r>
            <a:endParaRPr lang="en-US" sz="32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System software manages the computer's hardware and provides an environment where other software can work.</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Windows, Linux, </a:t>
            </a:r>
            <a:r>
              <a:rPr lang="en-US" sz="2000" b="0" i="0" dirty="0" err="1" smtClean="0">
                <a:solidFill>
                  <a:srgbClr val="E8E8E8"/>
                </a:solidFill>
                <a:effectLst/>
                <a:latin typeface="Times New Roman" panose="02020603050405020304" pitchFamily="18" charset="0"/>
                <a:cs typeface="Times New Roman" panose="02020603050405020304" pitchFamily="18" charset="0"/>
              </a:rPr>
              <a:t>macOS</a:t>
            </a:r>
            <a:r>
              <a:rPr lang="en-US" sz="2000" b="0" i="0" dirty="0" smtClean="0">
                <a:solidFill>
                  <a:srgbClr val="E8E8E8"/>
                </a:solidFill>
                <a:effectLst/>
                <a:latin typeface="Times New Roman" panose="02020603050405020304" pitchFamily="18" charset="0"/>
                <a:cs typeface="Times New Roman" panose="02020603050405020304" pitchFamily="18" charset="0"/>
              </a:rPr>
              <a:t>, device drivers, and utility programs.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The operating system is one of the most important examples of system software.</a:t>
            </a:r>
          </a:p>
          <a:p>
            <a:pPr algn="just"/>
            <a:endParaRPr lang="en-US"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Application Software</a:t>
            </a:r>
            <a:endParaRPr lang="en-US" sz="3200" b="1"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Application software is designed to help users perform specific activities.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Examples:</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Microsoft Word for writing documents, Chrome for browsing the internet, Photoshop for editing images, and Facebook for communication.</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35140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200" y="877144"/>
            <a:ext cx="11328400" cy="4401205"/>
          </a:xfrm>
          <a:prstGeom prst="rect">
            <a:avLst/>
          </a:prstGeom>
        </p:spPr>
        <p:txBody>
          <a:bodyPr wrap="square">
            <a:spAutoFit/>
          </a:bodyPr>
          <a:lstStyle/>
          <a:p>
            <a:pPr algn="just">
              <a:buFont typeface="Arial" panose="020B0604020202020204" pitchFamily="34" charset="0"/>
              <a:buChar char="•"/>
            </a:pPr>
            <a:r>
              <a:rPr lang="en-US" sz="4000" b="1" i="0" dirty="0" smtClean="0">
                <a:solidFill>
                  <a:srgbClr val="E8E8E8"/>
                </a:solidFill>
                <a:effectLst/>
                <a:latin typeface="Times New Roman" panose="02020603050405020304" pitchFamily="18" charset="0"/>
                <a:cs typeface="Times New Roman" panose="02020603050405020304" pitchFamily="18" charset="0"/>
              </a:rPr>
              <a:t>Programming and Programming Languages</a:t>
            </a:r>
            <a:endParaRPr lang="en-US" sz="4000" b="1" dirty="0" smtClean="0">
              <a:effectLst/>
              <a:latin typeface="Times New Roman" panose="02020603050405020304" pitchFamily="18" charset="0"/>
              <a:cs typeface="Times New Roman" panose="02020603050405020304" pitchFamily="18" charset="0"/>
            </a:endParaRPr>
          </a:p>
          <a:p>
            <a:pPr algn="just"/>
            <a:r>
              <a:rPr lang="en-US" sz="2000" b="1" i="0" dirty="0" smtClean="0">
                <a:solidFill>
                  <a:srgbClr val="E8E8E8"/>
                </a:solidFill>
                <a:effectLst/>
                <a:latin typeface="Times New Roman" panose="02020603050405020304" pitchFamily="18" charset="0"/>
                <a:cs typeface="Times New Roman" panose="02020603050405020304" pitchFamily="18" charset="0"/>
              </a:rPr>
              <a:t>Programming </a:t>
            </a:r>
            <a:r>
              <a:rPr lang="en-US" sz="2000" b="0" i="0" dirty="0" smtClean="0">
                <a:solidFill>
                  <a:srgbClr val="E8E8E8"/>
                </a:solidFill>
                <a:effectLst/>
                <a:latin typeface="Times New Roman" panose="02020603050405020304" pitchFamily="18" charset="0"/>
                <a:cs typeface="Times New Roman" panose="02020603050405020304" pitchFamily="18" charset="0"/>
              </a:rPr>
              <a:t>is the process of creating instructions for computers.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It usually includes planning, writing code, testing the program, finding errors, and correcting those errors.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programming language is a language used by programmers to communicate instructions to a computer.</a:t>
            </a:r>
          </a:p>
          <a:p>
            <a:pPr algn="just"/>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Examples of programming languages:</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Python</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Java</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C</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C++</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JavaScript</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C#</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For example, Python can be used to create a program that calculates the average marks of a student.</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367654"/>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300" y="-105053"/>
            <a:ext cx="9956800" cy="6924973"/>
          </a:xfrm>
          <a:prstGeom prst="rect">
            <a:avLst/>
          </a:prstGeom>
        </p:spPr>
        <p:txBody>
          <a:bodyPr wrap="square">
            <a:spAutoFit/>
          </a:bodyPr>
          <a:lstStyle/>
          <a:p>
            <a:pPr algn="just"/>
            <a:r>
              <a:rPr lang="en-US" sz="4000" b="1" i="0" dirty="0" smtClean="0">
                <a:solidFill>
                  <a:srgbClr val="E8E8E8"/>
                </a:solidFill>
                <a:effectLst/>
                <a:latin typeface="Times New Roman" panose="02020603050405020304" pitchFamily="18" charset="0"/>
                <a:cs typeface="Times New Roman" panose="02020603050405020304" pitchFamily="18" charset="0"/>
              </a:rPr>
              <a:t>High-Level and Low-Level Languages, Source Code and Machine Code</a:t>
            </a:r>
            <a:endParaRPr lang="en-US" sz="4000" b="1"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High-Level Language</a:t>
            </a:r>
            <a:endParaRPr lang="en-US" sz="3200"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High-level languages are easier for humans to understand, read, and write.</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Examples:</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Python, Java, and JavaScript.</a:t>
            </a:r>
            <a:endParaRPr lang="en-US"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Low-Level Language</a:t>
            </a:r>
            <a:endParaRPr lang="en-US" sz="3200"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Low-level languages are closer to the computer's hardware and are more difficult for humans to understand.</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Examples:</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Assembly language and machine language.</a:t>
            </a:r>
            <a:endParaRPr lang="en-US"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3200" b="1" i="0" dirty="0" smtClean="0">
                <a:solidFill>
                  <a:srgbClr val="FF3131"/>
                </a:solidFill>
                <a:effectLst/>
                <a:latin typeface="Times New Roman" panose="02020603050405020304" pitchFamily="18" charset="0"/>
                <a:cs typeface="Times New Roman" panose="02020603050405020304" pitchFamily="18" charset="0"/>
              </a:rPr>
              <a:t>Source Code</a:t>
            </a:r>
            <a:endParaRPr lang="en-US" sz="3200" dirty="0" smtClean="0">
              <a:effectLst/>
              <a:latin typeface="Times New Roman" panose="02020603050405020304" pitchFamily="18" charset="0"/>
              <a:cs typeface="Times New Roman" panose="02020603050405020304" pitchFamily="18" charset="0"/>
            </a:endParaRPr>
          </a:p>
          <a:p>
            <a:pPr algn="just"/>
            <a:r>
              <a:rPr lang="en-US" sz="2000" b="1" i="0" dirty="0" smtClean="0">
                <a:effectLst/>
                <a:latin typeface="Times New Roman" panose="02020603050405020304" pitchFamily="18" charset="0"/>
                <a:cs typeface="Times New Roman" panose="02020603050405020304" pitchFamily="18" charset="0"/>
              </a:rPr>
              <a:t>Source code is the code written by a programmer using a programming language.</a:t>
            </a:r>
            <a:endParaRPr lang="en-US" sz="2000"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Machine Code</a:t>
            </a:r>
            <a:endParaRPr lang="en-US" sz="3200"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Machine code is the form of instructions that the computer's processor can directly understand and execute.</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It is mainly represented using binary digits, such as 0s and 1s.</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Basic flow:</a:t>
            </a:r>
            <a:endParaRPr lang="en-US"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latin typeface="Times New Roman" panose="02020603050405020304" pitchFamily="18" charset="0"/>
                <a:cs typeface="Times New Roman" panose="02020603050405020304" pitchFamily="18" charset="0"/>
              </a:rPr>
              <a:t>Source Code → Translation → Machine Code → Computer Execution</a:t>
            </a:r>
            <a:endParaRPr lang="en-US"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675486"/>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000" y="535444"/>
            <a:ext cx="10033000" cy="5786199"/>
          </a:xfrm>
          <a:prstGeom prst="rect">
            <a:avLst/>
          </a:prstGeom>
        </p:spPr>
        <p:txBody>
          <a:bodyPr wrap="square">
            <a:spAutoFit/>
          </a:bodyPr>
          <a:lstStyle/>
          <a:p>
            <a:pPr algn="just">
              <a:buFont typeface="Arial" panose="020B0604020202020204" pitchFamily="34" charset="0"/>
              <a:buChar char="•"/>
            </a:pPr>
            <a:r>
              <a:rPr lang="en-US" sz="4000" b="1" i="0" dirty="0" smtClean="0">
                <a:solidFill>
                  <a:srgbClr val="E8E8E8"/>
                </a:solidFill>
                <a:effectLst/>
                <a:latin typeface="Times New Roman" panose="02020603050405020304" pitchFamily="18" charset="0"/>
                <a:cs typeface="Times New Roman" panose="02020603050405020304" pitchFamily="18" charset="0"/>
              </a:rPr>
              <a:t>Compiler, Interpreter and Programmer</a:t>
            </a:r>
            <a:endParaRPr lang="en-US" sz="4000" b="1"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Compiler</a:t>
            </a:r>
            <a:endParaRPr lang="en-US" sz="3200"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rPr>
              <a:t>A compiler translates a complete program into machine-readable code before the program is executed.</a:t>
            </a:r>
            <a:endParaRPr lang="en-US" dirty="0" smtClean="0">
              <a:effectLst/>
            </a:endParaRPr>
          </a:p>
          <a:p>
            <a:pPr algn="just"/>
            <a:r>
              <a:rPr lang="en-US" sz="3200" b="0" i="0" dirty="0" smtClean="0">
                <a:solidFill>
                  <a:srgbClr val="FF0000"/>
                </a:solidFill>
                <a:effectLst/>
                <a:latin typeface="Times New Roman" panose="02020603050405020304" pitchFamily="18" charset="0"/>
                <a:cs typeface="Times New Roman" panose="02020603050405020304" pitchFamily="18" charset="0"/>
              </a:rPr>
              <a:t>I</a:t>
            </a:r>
            <a:r>
              <a:rPr lang="en-US" sz="3200" b="1" i="0" dirty="0" smtClean="0">
                <a:solidFill>
                  <a:srgbClr val="FF0000"/>
                </a:solidFill>
                <a:effectLst/>
                <a:latin typeface="Times New Roman" panose="02020603050405020304" pitchFamily="18" charset="0"/>
                <a:cs typeface="Times New Roman" panose="02020603050405020304" pitchFamily="18" charset="0"/>
              </a:rPr>
              <a:t>nterpreter</a:t>
            </a:r>
            <a:endParaRPr lang="en-US" sz="3200" dirty="0" smtClean="0">
              <a:solidFill>
                <a:srgbClr val="FF0000"/>
              </a:solidFill>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rPr>
              <a:t>An interpreter reads and executes code while the program is running, often one instruction at a time.</a:t>
            </a:r>
            <a:endParaRPr lang="en-US" dirty="0" smtClean="0">
              <a:effectLst/>
            </a:endParaRPr>
          </a:p>
          <a:p>
            <a:pPr algn="just"/>
            <a:r>
              <a:rPr lang="en-US" b="0" i="0" dirty="0" smtClean="0">
                <a:solidFill>
                  <a:srgbClr val="E8E8E8"/>
                </a:solidFill>
                <a:effectLst/>
              </a:rPr>
              <a:t>Both compilers and interpreters help computers understand code written by programmers.</a:t>
            </a:r>
            <a:endParaRPr lang="en-US" dirty="0" smtClean="0">
              <a:effectLst/>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Programmer</a:t>
            </a:r>
            <a:endParaRPr lang="en-US" sz="3200" dirty="0" smtClean="0">
              <a:effectLst/>
              <a:latin typeface="Times New Roman" panose="02020603050405020304" pitchFamily="18" charset="0"/>
              <a:cs typeface="Times New Roman" panose="02020603050405020304" pitchFamily="18" charset="0"/>
            </a:endParaRPr>
          </a:p>
          <a:p>
            <a:pPr algn="just"/>
            <a:r>
              <a:rPr lang="en-US" b="0" i="0" dirty="0" smtClean="0">
                <a:solidFill>
                  <a:srgbClr val="E8E8E8"/>
                </a:solidFill>
                <a:effectLst/>
              </a:rPr>
              <a:t>A programmer is a person who writes, tests, corrects, and maintains computer programs.</a:t>
            </a:r>
            <a:endParaRPr lang="en-US" dirty="0" smtClean="0">
              <a:effectLst/>
            </a:endParaRPr>
          </a:p>
          <a:p>
            <a:pPr algn="just"/>
            <a:r>
              <a:rPr lang="en-US" b="0" i="0" dirty="0" smtClean="0">
                <a:solidFill>
                  <a:srgbClr val="E8E8E8"/>
                </a:solidFill>
                <a:effectLst/>
              </a:rPr>
              <a:t>Programmers may:</a:t>
            </a:r>
            <a:endParaRPr lang="en-US" dirty="0" smtClean="0">
              <a:effectLst/>
            </a:endParaRPr>
          </a:p>
          <a:p>
            <a:pPr algn="just">
              <a:buFont typeface="Arial" panose="020B0604020202020204" pitchFamily="34" charset="0"/>
              <a:buChar char="•"/>
            </a:pPr>
            <a:r>
              <a:rPr lang="en-US" b="0" i="0" dirty="0" smtClean="0">
                <a:solidFill>
                  <a:srgbClr val="E8E8E8"/>
                </a:solidFill>
                <a:effectLst/>
              </a:rPr>
              <a:t>Write new code</a:t>
            </a:r>
            <a:endParaRPr lang="en-US" dirty="0" smtClean="0">
              <a:effectLst/>
            </a:endParaRPr>
          </a:p>
          <a:p>
            <a:pPr algn="just">
              <a:buFont typeface="Arial" panose="020B0604020202020204" pitchFamily="34" charset="0"/>
              <a:buChar char="•"/>
            </a:pPr>
            <a:r>
              <a:rPr lang="en-US" b="0" i="0" dirty="0" smtClean="0">
                <a:solidFill>
                  <a:srgbClr val="E8E8E8"/>
                </a:solidFill>
                <a:effectLst/>
              </a:rPr>
              <a:t>Fix programming errors</a:t>
            </a:r>
            <a:endParaRPr lang="en-US" dirty="0" smtClean="0">
              <a:effectLst/>
            </a:endParaRPr>
          </a:p>
          <a:p>
            <a:pPr algn="just">
              <a:buFont typeface="Arial" panose="020B0604020202020204" pitchFamily="34" charset="0"/>
              <a:buChar char="•"/>
            </a:pPr>
            <a:r>
              <a:rPr lang="en-US" b="0" i="0" dirty="0" smtClean="0">
                <a:solidFill>
                  <a:srgbClr val="E8E8E8"/>
                </a:solidFill>
                <a:effectLst/>
              </a:rPr>
              <a:t>Develop new features</a:t>
            </a:r>
            <a:endParaRPr lang="en-US" dirty="0" smtClean="0">
              <a:effectLst/>
            </a:endParaRPr>
          </a:p>
          <a:p>
            <a:pPr algn="just">
              <a:buFont typeface="Arial" panose="020B0604020202020204" pitchFamily="34" charset="0"/>
              <a:buChar char="•"/>
            </a:pPr>
            <a:r>
              <a:rPr lang="en-US" b="0" i="0" dirty="0" smtClean="0">
                <a:solidFill>
                  <a:srgbClr val="E8E8E8"/>
                </a:solidFill>
                <a:effectLst/>
              </a:rPr>
              <a:t>Test programs</a:t>
            </a:r>
            <a:endParaRPr lang="en-US" dirty="0" smtClean="0">
              <a:effectLst/>
            </a:endParaRPr>
          </a:p>
          <a:p>
            <a:pPr algn="just">
              <a:buFont typeface="Arial" panose="020B0604020202020204" pitchFamily="34" charset="0"/>
              <a:buChar char="•"/>
            </a:pPr>
            <a:r>
              <a:rPr lang="en-US" b="0" i="0" dirty="0" smtClean="0">
                <a:solidFill>
                  <a:srgbClr val="E8E8E8"/>
                </a:solidFill>
                <a:effectLst/>
              </a:rPr>
              <a:t>Maintain existing applications</a:t>
            </a:r>
            <a:endParaRPr lang="en-US" dirty="0">
              <a:effectLst/>
            </a:endParaRPr>
          </a:p>
        </p:txBody>
      </p:sp>
    </p:spTree>
    <p:extLst>
      <p:ext uri="{BB962C8B-B14F-4D97-AF65-F5344CB8AC3E}">
        <p14:creationId xmlns:p14="http://schemas.microsoft.com/office/powerpoint/2010/main" val="4284841535"/>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552440"/>
            <a:ext cx="10820400" cy="3847207"/>
          </a:xfrm>
          <a:prstGeom prst="rect">
            <a:avLst/>
          </a:prstGeom>
        </p:spPr>
        <p:txBody>
          <a:bodyPr wrap="square">
            <a:spAutoFit/>
          </a:bodyPr>
          <a:lstStyle/>
          <a:p>
            <a:pPr algn="just">
              <a:buFont typeface="Arial" panose="020B0604020202020204" pitchFamily="34" charset="0"/>
              <a:buChar char="•"/>
            </a:pPr>
            <a:r>
              <a:rPr lang="en-US" sz="4000" b="1" i="0" dirty="0" smtClean="0">
                <a:solidFill>
                  <a:srgbClr val="E8E8E8"/>
                </a:solidFill>
                <a:effectLst/>
                <a:latin typeface="Times New Roman" panose="02020603050405020304" pitchFamily="18" charset="0"/>
                <a:cs typeface="Times New Roman" panose="02020603050405020304" pitchFamily="18" charset="0"/>
              </a:rPr>
              <a:t>Software Engineering and Software Engineer</a:t>
            </a:r>
            <a:endParaRPr lang="en-US" sz="4000" b="1"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Software Engineering</a:t>
            </a:r>
            <a:endParaRPr lang="en-US" sz="32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Software engineering is the use of proper methods, principles, and techniques to develop high-quality software.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It includes different stages such as:</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Requirements → Planning → Design → Coding → Testing → Deployment → Maintenance</a:t>
            </a:r>
          </a:p>
          <a:p>
            <a:pPr algn="just"/>
            <a:endParaRPr lang="en-US" sz="2000" dirty="0" smtClean="0">
              <a:effectLst/>
              <a:latin typeface="Times New Roman" panose="02020603050405020304" pitchFamily="18" charset="0"/>
              <a:cs typeface="Times New Roman" panose="02020603050405020304" pitchFamily="18" charset="0"/>
            </a:endParaRPr>
          </a:p>
          <a:p>
            <a:pPr algn="just"/>
            <a:r>
              <a:rPr lang="en-US" sz="3200" b="1" i="0" dirty="0" smtClean="0">
                <a:solidFill>
                  <a:srgbClr val="FF3131"/>
                </a:solidFill>
                <a:effectLst/>
                <a:latin typeface="Times New Roman" panose="02020603050405020304" pitchFamily="18" charset="0"/>
                <a:cs typeface="Times New Roman" panose="02020603050405020304" pitchFamily="18" charset="0"/>
              </a:rPr>
              <a:t>Software Engineer</a:t>
            </a:r>
            <a:endParaRPr lang="en-US" sz="3200" b="1"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software engineer is a professional who uses software engineering methods to design, develop, test, and maintain software systems</a:t>
            </a:r>
            <a:r>
              <a:rPr lang="en-US" b="0" i="0" dirty="0" smtClean="0">
                <a:solidFill>
                  <a:srgbClr val="E8E8E8"/>
                </a:solidFill>
                <a:effectLst/>
              </a:rPr>
              <a:t>.</a:t>
            </a:r>
            <a:endParaRPr lang="en-US" dirty="0">
              <a:effectLst/>
            </a:endParaRPr>
          </a:p>
        </p:txBody>
      </p:sp>
    </p:spTree>
    <p:extLst>
      <p:ext uri="{BB962C8B-B14F-4D97-AF65-F5344CB8AC3E}">
        <p14:creationId xmlns:p14="http://schemas.microsoft.com/office/powerpoint/2010/main" val="23920626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500" y="292944"/>
            <a:ext cx="10045700" cy="5909310"/>
          </a:xfrm>
          <a:prstGeom prst="rect">
            <a:avLst/>
          </a:prstGeom>
        </p:spPr>
        <p:txBody>
          <a:bodyPr wrap="square">
            <a:spAutoFit/>
          </a:bodyPr>
          <a:lstStyle/>
          <a:p>
            <a:pPr algn="just"/>
            <a:r>
              <a:rPr lang="en-US" sz="4000" b="1" i="0" dirty="0" smtClean="0">
                <a:solidFill>
                  <a:srgbClr val="E8E8E8"/>
                </a:solidFill>
                <a:effectLst/>
                <a:latin typeface="Times New Roman" panose="02020603050405020304" pitchFamily="18" charset="0"/>
                <a:cs typeface="Times New Roman" panose="02020603050405020304" pitchFamily="18" charset="0"/>
              </a:rPr>
              <a:t>Programmer vs. Software Engineer</a:t>
            </a:r>
            <a:endParaRPr lang="en-US" sz="4000" b="1"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programmer mainly focuses on writing and fixing code.</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A software engineer looks at the complete software system, including planning, design, coding, testing, security, teamwork, and maintenance.</a:t>
            </a:r>
          </a:p>
          <a:p>
            <a:pPr algn="just"/>
            <a:endParaRPr lang="en-US" dirty="0" smtClean="0">
              <a:effectLst/>
            </a:endParaRPr>
          </a:p>
          <a:p>
            <a:pPr algn="just"/>
            <a:r>
              <a:rPr lang="en-US" sz="4000" b="1" i="0" dirty="0" smtClean="0">
                <a:solidFill>
                  <a:srgbClr val="E8E8E8"/>
                </a:solidFill>
                <a:effectLst/>
                <a:latin typeface="Times New Roman" panose="02020603050405020304" pitchFamily="18" charset="0"/>
                <a:cs typeface="Times New Roman" panose="02020603050405020304" pitchFamily="18" charset="0"/>
              </a:rPr>
              <a:t>Why is Software Engineering Needed?</a:t>
            </a:r>
            <a:endParaRPr lang="en-US" sz="4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Software engineering is important because modern software systems can be large and complicated.</a:t>
            </a:r>
            <a:endParaRPr lang="en-US" sz="2000" dirty="0" smtClean="0">
              <a:effectLst/>
              <a:latin typeface="Times New Roman" panose="02020603050405020304" pitchFamily="18" charset="0"/>
              <a:cs typeface="Times New Roman" panose="02020603050405020304" pitchFamily="18" charset="0"/>
            </a:endParaRPr>
          </a:p>
          <a:p>
            <a:pPr algn="just"/>
            <a:r>
              <a:rPr lang="en-US" sz="2000" b="0" i="0" dirty="0" smtClean="0">
                <a:solidFill>
                  <a:srgbClr val="E8E8E8"/>
                </a:solidFill>
                <a:effectLst/>
                <a:latin typeface="Times New Roman" panose="02020603050405020304" pitchFamily="18" charset="0"/>
                <a:cs typeface="Times New Roman" panose="02020603050405020304" pitchFamily="18" charset="0"/>
              </a:rPr>
              <a:t>It helps to:</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Reduce errors</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Improve software quality</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Increase security</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Manage large projects</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Reduce development costs</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Improve teamwork</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Make software easier to maintain</a:t>
            </a:r>
            <a:endParaRPr lang="en-US" sz="2000" dirty="0" smtClean="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0" i="0" dirty="0" smtClean="0">
                <a:solidFill>
                  <a:srgbClr val="E8E8E8"/>
                </a:solidFill>
                <a:effectLst/>
                <a:latin typeface="Times New Roman" panose="02020603050405020304" pitchFamily="18" charset="0"/>
                <a:cs typeface="Times New Roman" panose="02020603050405020304" pitchFamily="18" charset="0"/>
              </a:rPr>
              <a:t>Build reliable and efficient systems</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3413955"/>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21</TotalTime>
  <Words>857</Words>
  <Application>Microsoft Office PowerPoint</Application>
  <PresentationFormat>Widescreen</PresentationFormat>
  <Paragraphs>109</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cp:revision>
  <dcterms:created xsi:type="dcterms:W3CDTF">2026-09-12T06:45:47Z</dcterms:created>
  <dcterms:modified xsi:type="dcterms:W3CDTF">2026-09-12T07:07:46Z</dcterms:modified>
</cp:coreProperties>
</file>